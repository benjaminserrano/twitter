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DDC53-8AF6-43AA-BE0C-2405516EC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E77E9F-BD92-4097-9F1F-0DBE60060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B0C266-06B4-4893-A440-1D9EED6C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DEED53-9655-497B-843F-727B7F9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C58CA-98F6-417A-B61A-29BC7632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248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621B8-79FD-40D8-B727-AC4F0922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8A4C97-645F-465E-96EC-29B950917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318C8-DB84-4D0C-AEA6-53F2CA1E7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34E590-90C5-4E2B-A3BF-3487B0AB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BED9FD-8B93-46FF-8469-1AE92CEB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74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00560-703A-4F2E-88D8-41A6EFA1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250701-1478-43AA-ADCC-458869A60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F3EC83-818C-4F61-BE91-BC57EF79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DC2AC6-0B24-4325-ADED-2D387A45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A94D0-C881-44C4-9CED-E1A8B989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221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A3962-FF33-4514-9BF2-C126A815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AC50B7-1754-4614-A2F5-B1A0D8340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9AAB7B-8CF0-4478-9BEA-373F7B166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D1C5C2-7611-454D-8FC7-D7003F96A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20D8FB-1DD8-4B68-B000-719D6F82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94A292-F088-40DC-92C4-20D5C2E08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6390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B0D76-F41A-4848-8528-14ABC6F3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4E0B69-7276-47C6-BFE0-99558C23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6CAB5F-977D-43D8-90C8-9F9DA6FE1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B3AFA53-FAB7-49DF-AB42-4D1684000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27C9113-9436-4C64-B6EA-26652E457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04A5EE-F1B7-4524-9343-CAF41160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F641C7-6461-44AC-AFD7-0B4B69B0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9C4A8A-D7C1-487A-86B0-0FD65D88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9928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69E62-3AFF-4381-92F2-D6B3DA21D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5E588E-B747-4F0A-9C65-1AD693D0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191C3C-F5B4-4397-BA0E-B5900449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AA529A-F9FE-4F4B-BA54-3570F978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1434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812524-6E03-4581-9E35-CA6441977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0824AB-A65B-4B04-A6F4-5F6F47FF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F63AC8-4FF2-44F6-B54F-BAA5E7EF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266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4BA84-5F85-4C70-8813-25A684A43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93D506-08C1-497C-882B-2704AFDDD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37E934-2415-4F63-AE2D-9B42B30B4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267E99-4A32-4D01-9FFA-9F1430A5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32422F-2489-4856-9FDC-5D35B60C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06F9EA-524A-4B25-A669-1506486E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809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89AA4-EA1C-4A90-85C5-8FED6131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011CD78-2740-49C6-A50D-0675AEC69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369116-0DAB-4A72-945F-7A80709D6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32C710-7818-4EDE-B753-234C8777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2B86F9-4F9F-4DEF-93A5-61735538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A05784-14E3-4F52-8DE6-4958DA39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07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D7669-C8F1-4F3C-8AED-4DA90EE1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4EA19F-3977-456C-9D25-01233B1C2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B7B67-C295-4306-B86A-787AA4D6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75DA94-088C-4EC4-87CF-D6E60B63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01C5A5-6566-4AE8-9456-640F1836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57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4A7D5C-A890-483C-9BFF-5D60F9511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19D916-1996-4888-922D-CC0CAF66B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C4B41C-C4E1-4683-B49D-AE91401F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257FE5-8043-4ABA-9F59-330A9DB7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97C7ED-CE7B-4D8F-8F2B-E55193AF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22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A3296FE-B4B1-415A-8B4C-B9FD9147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0BDFFC-4CDC-4FB6-967D-6626D60AC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98EA7-5598-48A6-8EF7-BFB6DE018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D730A-BEDD-484B-8CFD-87E534187873}" type="datetimeFigureOut">
              <a:rPr lang="es-CL" smtClean="0"/>
              <a:t>26-03-2021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2BAE63-261B-4FB0-A7BB-1E13469D1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CF749-1FE3-4EC0-9E27-2844853F8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0016D-F0AD-48C3-BDA1-09A790BD98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404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Free Icon | Graph">
            <a:extLst>
              <a:ext uri="{FF2B5EF4-FFF2-40B4-BE49-F238E27FC236}">
                <a16:creationId xmlns:a16="http://schemas.microsoft.com/office/drawing/2014/main" id="{A50F2309-486D-439B-95DA-CE831DB50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349" y="3925500"/>
            <a:ext cx="1356247" cy="135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3900D4F-DCC1-4A6D-A11A-05293A445316}"/>
              </a:ext>
            </a:extLst>
          </p:cNvPr>
          <p:cNvSpPr/>
          <p:nvPr/>
        </p:nvSpPr>
        <p:spPr>
          <a:xfrm>
            <a:off x="1305910" y="111831"/>
            <a:ext cx="2916621" cy="589394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7809B3A-6D8F-4E15-89D2-440C0D3922D4}"/>
              </a:ext>
            </a:extLst>
          </p:cNvPr>
          <p:cNvSpPr/>
          <p:nvPr/>
        </p:nvSpPr>
        <p:spPr>
          <a:xfrm>
            <a:off x="4971390" y="273266"/>
            <a:ext cx="6921063" cy="3591911"/>
          </a:xfrm>
          <a:prstGeom prst="roundRect">
            <a:avLst>
              <a:gd name="adj" fmla="val 1887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31904DE4-E01F-4427-BD6D-24E28D197C44}"/>
              </a:ext>
            </a:extLst>
          </p:cNvPr>
          <p:cNvSpPr/>
          <p:nvPr/>
        </p:nvSpPr>
        <p:spPr>
          <a:xfrm>
            <a:off x="7152286" y="356612"/>
            <a:ext cx="4619297" cy="1971709"/>
          </a:xfrm>
          <a:prstGeom prst="roundRect">
            <a:avLst>
              <a:gd name="adj" fmla="val 3319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C36C6CB-1146-4E87-85D0-B2A29A653C79}"/>
              </a:ext>
            </a:extLst>
          </p:cNvPr>
          <p:cNvSpPr/>
          <p:nvPr/>
        </p:nvSpPr>
        <p:spPr>
          <a:xfrm>
            <a:off x="1545020" y="409911"/>
            <a:ext cx="2442768" cy="88461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bIns="180000" rtlCol="0" anchor="ctr"/>
          <a:lstStyle/>
          <a:p>
            <a:pPr algn="ctr"/>
            <a:r>
              <a:rPr lang="es-CL" sz="4000" dirty="0">
                <a:latin typeface="Aldhabi" panose="020B0604020202020204" pitchFamily="2" charset="-78"/>
                <a:cs typeface="Aldhabi" panose="020B0604020202020204" pitchFamily="2" charset="-78"/>
              </a:rPr>
              <a:t>Base accounts</a:t>
            </a:r>
            <a:endParaRPr lang="es-CL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7FBA252-8195-41A1-B9C7-05740760C4E1}"/>
              </a:ext>
            </a:extLst>
          </p:cNvPr>
          <p:cNvSpPr/>
          <p:nvPr/>
        </p:nvSpPr>
        <p:spPr>
          <a:xfrm>
            <a:off x="5312979" y="549465"/>
            <a:ext cx="1646228" cy="5961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bIns="180000" rtlCol="0" anchor="ctr"/>
          <a:lstStyle/>
          <a:p>
            <a:pPr algn="ctr"/>
            <a:r>
              <a:rPr lang="es-CL" sz="4000" dirty="0">
                <a:latin typeface="Aldhabi" panose="020B0604020202020204" pitchFamily="2" charset="-78"/>
                <a:cs typeface="Aldhabi" panose="020B0604020202020204" pitchFamily="2" charset="-78"/>
              </a:rPr>
              <a:t>Followers</a:t>
            </a:r>
            <a:endParaRPr lang="es-CL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47F3A74-12B3-403E-AF76-EAC5A6F56300}"/>
              </a:ext>
            </a:extLst>
          </p:cNvPr>
          <p:cNvSpPr/>
          <p:nvPr/>
        </p:nvSpPr>
        <p:spPr>
          <a:xfrm>
            <a:off x="5312979" y="2030242"/>
            <a:ext cx="1646228" cy="5961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bIns="180000" rtlCol="0" anchor="ctr"/>
          <a:lstStyle/>
          <a:p>
            <a:pPr algn="ctr"/>
            <a:r>
              <a:rPr lang="es-CL" sz="4000" dirty="0">
                <a:latin typeface="Aldhabi" panose="020B0604020202020204" pitchFamily="2" charset="-78"/>
                <a:cs typeface="Aldhabi" panose="020B0604020202020204" pitchFamily="2" charset="-78"/>
              </a:rPr>
              <a:t>Friends</a:t>
            </a:r>
            <a:endParaRPr lang="es-CL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A6E8301-3761-4374-8240-ECDBCD771C61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987788" y="847545"/>
            <a:ext cx="1325191" cy="4675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3BBF0D9-5470-47F1-BE23-C665F9C23C3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987788" y="852220"/>
            <a:ext cx="1325191" cy="1476102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126F841-BFE7-4BBF-A0E6-FCDA13C60D09}"/>
              </a:ext>
            </a:extLst>
          </p:cNvPr>
          <p:cNvSpPr txBox="1"/>
          <p:nvPr/>
        </p:nvSpPr>
        <p:spPr>
          <a:xfrm>
            <a:off x="7152287" y="356613"/>
            <a:ext cx="17552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dirty="0">
                <a:latin typeface="Aldhabi" panose="01000000000000000000" pitchFamily="2" charset="-78"/>
                <a:cs typeface="Aldhabi" panose="01000000000000000000" pitchFamily="2" charset="-78"/>
              </a:rPr>
              <a:t>    User profiles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CE28D3C-5774-4102-9BA0-01E50FDAA14F}"/>
              </a:ext>
            </a:extLst>
          </p:cNvPr>
          <p:cNvSpPr txBox="1"/>
          <p:nvPr/>
        </p:nvSpPr>
        <p:spPr>
          <a:xfrm>
            <a:off x="7152287" y="727297"/>
            <a:ext cx="47401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dirty="0">
                <a:latin typeface="Aldhabi" panose="01000000000000000000" pitchFamily="2" charset="-78"/>
                <a:cs typeface="Aldhabi" panose="01000000000000000000" pitchFamily="2" charset="-78"/>
              </a:rPr>
              <a:t>   (to study interest, ideology, bot presence)</a:t>
            </a:r>
            <a:endParaRPr lang="es-CL" sz="30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6B75078-2BEF-4E8F-98A3-7EB30C2F49D2}"/>
              </a:ext>
            </a:extLst>
          </p:cNvPr>
          <p:cNvSpPr txBox="1"/>
          <p:nvPr/>
        </p:nvSpPr>
        <p:spPr>
          <a:xfrm>
            <a:off x="7346725" y="1119351"/>
            <a:ext cx="4309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Authenticity (verified/protected accounts)</a:t>
            </a:r>
            <a:endParaRPr lang="es-CL" sz="28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FEE70E6-A699-41A5-ABEC-4F8FF2153D43}"/>
              </a:ext>
            </a:extLst>
          </p:cNvPr>
          <p:cNvSpPr txBox="1"/>
          <p:nvPr/>
        </p:nvSpPr>
        <p:spPr>
          <a:xfrm>
            <a:off x="7346725" y="1407085"/>
            <a:ext cx="1891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Creation dates</a:t>
            </a:r>
            <a:endParaRPr lang="es-CL" sz="2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E978171-2C6F-40B4-AF64-0AD9F5F09833}"/>
              </a:ext>
            </a:extLst>
          </p:cNvPr>
          <p:cNvSpPr txBox="1"/>
          <p:nvPr/>
        </p:nvSpPr>
        <p:spPr>
          <a:xfrm>
            <a:off x="7351984" y="1696115"/>
            <a:ext cx="2328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Profile descriptions</a:t>
            </a:r>
            <a:endParaRPr lang="es-CL" sz="2800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0E6A16DE-37AE-4E36-BE58-88397B45D9E4}"/>
              </a:ext>
            </a:extLst>
          </p:cNvPr>
          <p:cNvSpPr/>
          <p:nvPr/>
        </p:nvSpPr>
        <p:spPr>
          <a:xfrm>
            <a:off x="7152286" y="2445483"/>
            <a:ext cx="4619297" cy="1285959"/>
          </a:xfrm>
          <a:prstGeom prst="roundRect">
            <a:avLst>
              <a:gd name="adj" fmla="val 3891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DA93CE4-FCFF-41AC-AEA0-C79031167A92}"/>
              </a:ext>
            </a:extLst>
          </p:cNvPr>
          <p:cNvSpPr txBox="1"/>
          <p:nvPr/>
        </p:nvSpPr>
        <p:spPr>
          <a:xfrm>
            <a:off x="7152287" y="2445484"/>
            <a:ext cx="2086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dirty="0">
                <a:latin typeface="Aldhabi" panose="01000000000000000000" pitchFamily="2" charset="-78"/>
                <a:cs typeface="Aldhabi" panose="01000000000000000000" pitchFamily="2" charset="-78"/>
              </a:rPr>
              <a:t>    User activity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2AE843B-4F6F-4161-800A-1BC0E98C950D}"/>
              </a:ext>
            </a:extLst>
          </p:cNvPr>
          <p:cNvSpPr txBox="1"/>
          <p:nvPr/>
        </p:nvSpPr>
        <p:spPr>
          <a:xfrm>
            <a:off x="7152287" y="2816168"/>
            <a:ext cx="47401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dirty="0">
                <a:latin typeface="Aldhabi" panose="01000000000000000000" pitchFamily="2" charset="-78"/>
                <a:cs typeface="Aldhabi" panose="01000000000000000000" pitchFamily="2" charset="-78"/>
              </a:rPr>
              <a:t>   (to characterize activity)</a:t>
            </a:r>
            <a:endParaRPr lang="es-CL" sz="30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B73537B-B62A-4E58-80DE-D9B66207C784}"/>
              </a:ext>
            </a:extLst>
          </p:cNvPr>
          <p:cNvSpPr txBox="1"/>
          <p:nvPr/>
        </p:nvSpPr>
        <p:spPr>
          <a:xfrm>
            <a:off x="7378255" y="3208222"/>
            <a:ext cx="4309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General activity</a:t>
            </a:r>
            <a:endParaRPr lang="es-CL" sz="2800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6F7487F-D616-4171-A2C9-467F618FB817}"/>
              </a:ext>
            </a:extLst>
          </p:cNvPr>
          <p:cNvSpPr/>
          <p:nvPr/>
        </p:nvSpPr>
        <p:spPr>
          <a:xfrm>
            <a:off x="1481960" y="1452876"/>
            <a:ext cx="2591310" cy="2233692"/>
          </a:xfrm>
          <a:prstGeom prst="roundRect">
            <a:avLst>
              <a:gd name="adj" fmla="val 1159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CAF3D0E-F022-442F-AF7B-AB9DFBBB76CC}"/>
              </a:ext>
            </a:extLst>
          </p:cNvPr>
          <p:cNvSpPr txBox="1"/>
          <p:nvPr/>
        </p:nvSpPr>
        <p:spPr>
          <a:xfrm>
            <a:off x="1303285" y="1326753"/>
            <a:ext cx="21125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dirty="0">
                <a:latin typeface="Aldhabi" panose="01000000000000000000" pitchFamily="2" charset="-78"/>
                <a:cs typeface="Aldhabi" panose="01000000000000000000" pitchFamily="2" charset="-78"/>
              </a:rPr>
              <a:t>    User activity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6C9BAB9-5D89-416C-81E2-6851F774DB87}"/>
              </a:ext>
            </a:extLst>
          </p:cNvPr>
          <p:cNvSpPr txBox="1"/>
          <p:nvPr/>
        </p:nvSpPr>
        <p:spPr>
          <a:xfrm>
            <a:off x="1303288" y="1697437"/>
            <a:ext cx="29166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dirty="0">
                <a:latin typeface="Aldhabi" panose="01000000000000000000" pitchFamily="2" charset="-78"/>
                <a:cs typeface="Aldhabi" panose="01000000000000000000" pitchFamily="2" charset="-78"/>
              </a:rPr>
              <a:t>   (to characterize activity)</a:t>
            </a:r>
            <a:endParaRPr lang="es-CL" sz="30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FFC2E52-4085-460D-8320-87AB09102E6B}"/>
              </a:ext>
            </a:extLst>
          </p:cNvPr>
          <p:cNvSpPr txBox="1"/>
          <p:nvPr/>
        </p:nvSpPr>
        <p:spPr>
          <a:xfrm>
            <a:off x="1490352" y="3163347"/>
            <a:ext cx="2417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General activity</a:t>
            </a:r>
            <a:endParaRPr lang="es-CL" sz="28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82DCE2D-C7AB-412F-96C1-CB39650C63F7}"/>
              </a:ext>
            </a:extLst>
          </p:cNvPr>
          <p:cNvSpPr txBox="1"/>
          <p:nvPr/>
        </p:nvSpPr>
        <p:spPr>
          <a:xfrm>
            <a:off x="1490352" y="2068694"/>
            <a:ext cx="259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tweets</a:t>
            </a:r>
            <a:endParaRPr lang="es-CL" sz="2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5E7B802-43FD-454D-B8A6-4FFFBC68F688}"/>
              </a:ext>
            </a:extLst>
          </p:cNvPr>
          <p:cNvSpPr txBox="1"/>
          <p:nvPr/>
        </p:nvSpPr>
        <p:spPr>
          <a:xfrm>
            <a:off x="1492471" y="2337240"/>
            <a:ext cx="259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replies</a:t>
            </a:r>
            <a:endParaRPr lang="es-CL" sz="2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01E1DCE-66F3-43B5-8363-65DC90DA82B5}"/>
              </a:ext>
            </a:extLst>
          </p:cNvPr>
          <p:cNvSpPr txBox="1"/>
          <p:nvPr/>
        </p:nvSpPr>
        <p:spPr>
          <a:xfrm>
            <a:off x="1490352" y="2628370"/>
            <a:ext cx="259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retweets</a:t>
            </a:r>
            <a:endParaRPr lang="es-CL" sz="2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94CB0DA-DFCA-4241-B186-2672A20E0266}"/>
              </a:ext>
            </a:extLst>
          </p:cNvPr>
          <p:cNvSpPr txBox="1"/>
          <p:nvPr/>
        </p:nvSpPr>
        <p:spPr>
          <a:xfrm>
            <a:off x="1495096" y="2905744"/>
            <a:ext cx="259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mentions</a:t>
            </a:r>
            <a:endParaRPr lang="es-CL" sz="2800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D1193FCF-ACAE-4B45-9FF6-A1B98EF75FD3}"/>
              </a:ext>
            </a:extLst>
          </p:cNvPr>
          <p:cNvSpPr/>
          <p:nvPr/>
        </p:nvSpPr>
        <p:spPr>
          <a:xfrm>
            <a:off x="1473568" y="3865177"/>
            <a:ext cx="2591310" cy="1976088"/>
          </a:xfrm>
          <a:prstGeom prst="roundRect">
            <a:avLst>
              <a:gd name="adj" fmla="val 1159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F9EF4BF-26A7-413E-A574-5E07675529C3}"/>
              </a:ext>
            </a:extLst>
          </p:cNvPr>
          <p:cNvSpPr txBox="1"/>
          <p:nvPr/>
        </p:nvSpPr>
        <p:spPr>
          <a:xfrm>
            <a:off x="1294893" y="3739054"/>
            <a:ext cx="21125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dirty="0">
                <a:latin typeface="Aldhabi" panose="01000000000000000000" pitchFamily="2" charset="-78"/>
                <a:cs typeface="Aldhabi" panose="01000000000000000000" pitchFamily="2" charset="-78"/>
              </a:rPr>
              <a:t>    User content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0BF213F-5EE4-46C3-82C9-B37E9C842C17}"/>
              </a:ext>
            </a:extLst>
          </p:cNvPr>
          <p:cNvSpPr txBox="1"/>
          <p:nvPr/>
        </p:nvSpPr>
        <p:spPr>
          <a:xfrm>
            <a:off x="1263366" y="4109738"/>
            <a:ext cx="2916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  (to study interest, ideology)</a:t>
            </a:r>
            <a:endParaRPr lang="es-CL" sz="28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8B89AEA-5977-4DBA-8995-AE8CC30AFC0C}"/>
              </a:ext>
            </a:extLst>
          </p:cNvPr>
          <p:cNvSpPr txBox="1"/>
          <p:nvPr/>
        </p:nvSpPr>
        <p:spPr>
          <a:xfrm>
            <a:off x="1481960" y="4480995"/>
            <a:ext cx="259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social representation</a:t>
            </a:r>
            <a:endParaRPr lang="es-CL" sz="2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C1FE77B-FCA1-408F-82F9-10A2EDAFD99A}"/>
              </a:ext>
            </a:extLst>
          </p:cNvPr>
          <p:cNvSpPr txBox="1"/>
          <p:nvPr/>
        </p:nvSpPr>
        <p:spPr>
          <a:xfrm>
            <a:off x="1484079" y="4749541"/>
            <a:ext cx="259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politics of the end</a:t>
            </a:r>
            <a:endParaRPr lang="es-CL" sz="2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52E971B-42B0-49E5-B74B-F8A228E93A4D}"/>
              </a:ext>
            </a:extLst>
          </p:cNvPr>
          <p:cNvSpPr txBox="1"/>
          <p:nvPr/>
        </p:nvSpPr>
        <p:spPr>
          <a:xfrm>
            <a:off x="1481960" y="5040671"/>
            <a:ext cx="259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verification criteria</a:t>
            </a:r>
            <a:endParaRPr lang="es-CL" sz="28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62A77B1-0EB7-454F-B9D1-3FE8619BC672}"/>
              </a:ext>
            </a:extLst>
          </p:cNvPr>
          <p:cNvSpPr txBox="1"/>
          <p:nvPr/>
        </p:nvSpPr>
        <p:spPr>
          <a:xfrm>
            <a:off x="1486704" y="5318045"/>
            <a:ext cx="2591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Aldhabi" panose="01000000000000000000" pitchFamily="2" charset="-78"/>
                <a:cs typeface="Aldhabi" panose="01000000000000000000" pitchFamily="2" charset="-78"/>
              </a:rPr>
              <a:t>●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 speech</a:t>
            </a:r>
            <a:endParaRPr lang="es-CL" sz="280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BD7587FD-FE0B-4933-8530-F2805D8E7352}"/>
              </a:ext>
            </a:extLst>
          </p:cNvPr>
          <p:cNvSpPr/>
          <p:nvPr/>
        </p:nvSpPr>
        <p:spPr>
          <a:xfrm>
            <a:off x="4836208" y="4156539"/>
            <a:ext cx="1124610" cy="89447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Twitter</a:t>
            </a:r>
          </a:p>
        </p:txBody>
      </p:sp>
      <p:pic>
        <p:nvPicPr>
          <p:cNvPr id="1034" name="Picture 10" descr="Database Logos - Blue Transparent Database Icon , Transparent Cartoon -  Jing.fm">
            <a:extLst>
              <a:ext uri="{FF2B5EF4-FFF2-40B4-BE49-F238E27FC236}">
                <a16:creationId xmlns:a16="http://schemas.microsoft.com/office/drawing/2014/main" id="{6535E215-E07C-4F5E-B8ED-171E0C138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216" y="4044817"/>
            <a:ext cx="906242" cy="1117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45BE67EA-4972-46E0-9D79-55FDAE2915A0}"/>
              </a:ext>
            </a:extLst>
          </p:cNvPr>
          <p:cNvSpPr txBox="1"/>
          <p:nvPr/>
        </p:nvSpPr>
        <p:spPr>
          <a:xfrm>
            <a:off x="5988811" y="4454768"/>
            <a:ext cx="1308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Twitter API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EE5DF9C4-B723-43BF-8433-7B857332C92E}"/>
              </a:ext>
            </a:extLst>
          </p:cNvPr>
          <p:cNvCxnSpPr>
            <a:stCxn id="57" idx="3"/>
            <a:endCxn id="1034" idx="1"/>
          </p:cNvCxnSpPr>
          <p:nvPr/>
        </p:nvCxnSpPr>
        <p:spPr>
          <a:xfrm>
            <a:off x="5960818" y="4603778"/>
            <a:ext cx="1406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B441B609-E58A-48B8-9224-ED9D22067985}"/>
              </a:ext>
            </a:extLst>
          </p:cNvPr>
          <p:cNvSpPr txBox="1"/>
          <p:nvPr/>
        </p:nvSpPr>
        <p:spPr>
          <a:xfrm>
            <a:off x="4714171" y="4893532"/>
            <a:ext cx="1368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Massive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94FB14D1-A4EF-4A0E-8616-9463C24EC124}"/>
              </a:ext>
            </a:extLst>
          </p:cNvPr>
          <p:cNvSpPr txBox="1"/>
          <p:nvPr/>
        </p:nvSpPr>
        <p:spPr>
          <a:xfrm>
            <a:off x="5981614" y="4173489"/>
            <a:ext cx="1366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400" dirty="0">
                <a:latin typeface="Aldhabi" panose="01000000000000000000" pitchFamily="2" charset="-78"/>
                <a:cs typeface="Aldhabi" panose="01000000000000000000" pitchFamily="2" charset="-78"/>
              </a:rPr>
              <a:t>data collection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E00C749-4E39-4C71-8A5F-112A2DD2A58C}"/>
              </a:ext>
            </a:extLst>
          </p:cNvPr>
          <p:cNvSpPr txBox="1"/>
          <p:nvPr/>
        </p:nvSpPr>
        <p:spPr>
          <a:xfrm>
            <a:off x="4579196" y="5133675"/>
            <a:ext cx="163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data source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0D50D103-96C4-461C-9036-CF854DFFB2E9}"/>
              </a:ext>
            </a:extLst>
          </p:cNvPr>
          <p:cNvSpPr txBox="1"/>
          <p:nvPr/>
        </p:nvSpPr>
        <p:spPr>
          <a:xfrm>
            <a:off x="6963375" y="5030318"/>
            <a:ext cx="163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Non-</a:t>
            </a:r>
            <a:r>
              <a:rPr lang="es-CL" sz="2800" dirty="0" err="1">
                <a:latin typeface="Aldhabi" panose="01000000000000000000" pitchFamily="2" charset="-78"/>
                <a:cs typeface="Aldhabi" panose="01000000000000000000" pitchFamily="2" charset="-78"/>
              </a:rPr>
              <a:t>relational</a:t>
            </a:r>
            <a:endParaRPr lang="es-CL" sz="28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0FDCABE5-AAEA-495B-9ADD-75994E2C53E2}"/>
              </a:ext>
            </a:extLst>
          </p:cNvPr>
          <p:cNvSpPr txBox="1"/>
          <p:nvPr/>
        </p:nvSpPr>
        <p:spPr>
          <a:xfrm>
            <a:off x="6963375" y="5291928"/>
            <a:ext cx="1638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database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8CCCB832-2FD4-4660-9E90-076527C41A25}"/>
              </a:ext>
            </a:extLst>
          </p:cNvPr>
          <p:cNvSpPr txBox="1"/>
          <p:nvPr/>
        </p:nvSpPr>
        <p:spPr>
          <a:xfrm>
            <a:off x="7125298" y="5553538"/>
            <a:ext cx="1314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(MongoDB)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C2579C98-0A55-447C-8098-590ABFBCC784}"/>
              </a:ext>
            </a:extLst>
          </p:cNvPr>
          <p:cNvSpPr txBox="1"/>
          <p:nvPr/>
        </p:nvSpPr>
        <p:spPr>
          <a:xfrm>
            <a:off x="10544181" y="4902842"/>
            <a:ext cx="1164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Results</a:t>
            </a:r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E25AA14C-4F30-41B0-B273-B47EE52543CB}"/>
              </a:ext>
            </a:extLst>
          </p:cNvPr>
          <p:cNvCxnSpPr>
            <a:cxnSpLocks/>
            <a:stCxn id="1034" idx="3"/>
            <a:endCxn id="1036" idx="1"/>
          </p:cNvCxnSpPr>
          <p:nvPr/>
        </p:nvCxnSpPr>
        <p:spPr>
          <a:xfrm flipV="1">
            <a:off x="8273458" y="4603624"/>
            <a:ext cx="2162891" cy="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a16:creationId xmlns:a16="http://schemas.microsoft.com/office/drawing/2014/main" id="{84BF997F-93FD-45A0-8624-D4899A8ED2C2}"/>
              </a:ext>
            </a:extLst>
          </p:cNvPr>
          <p:cNvSpPr txBox="1"/>
          <p:nvPr/>
        </p:nvSpPr>
        <p:spPr>
          <a:xfrm>
            <a:off x="8568748" y="4167221"/>
            <a:ext cx="161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400" dirty="0">
                <a:latin typeface="Aldhabi" panose="01000000000000000000" pitchFamily="2" charset="-78"/>
                <a:cs typeface="Aldhabi" panose="01000000000000000000" pitchFamily="2" charset="-78"/>
              </a:rPr>
              <a:t>analysis methods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B416C934-0F9F-4094-A999-CAF1BFA29A2F}"/>
              </a:ext>
            </a:extLst>
          </p:cNvPr>
          <p:cNvSpPr txBox="1"/>
          <p:nvPr/>
        </p:nvSpPr>
        <p:spPr>
          <a:xfrm>
            <a:off x="8442009" y="4454768"/>
            <a:ext cx="181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400" dirty="0">
                <a:latin typeface="Aldhabi" panose="01000000000000000000" pitchFamily="2" charset="-78"/>
                <a:cs typeface="Aldhabi" panose="01000000000000000000" pitchFamily="2" charset="-78"/>
              </a:rPr>
              <a:t>centrality measures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A1112BB1-9001-44D2-B406-F038B6244B45}"/>
              </a:ext>
            </a:extLst>
          </p:cNvPr>
          <p:cNvSpPr txBox="1"/>
          <p:nvPr/>
        </p:nvSpPr>
        <p:spPr>
          <a:xfrm>
            <a:off x="8797078" y="4672010"/>
            <a:ext cx="1101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400" dirty="0" err="1">
                <a:latin typeface="Aldhabi" panose="01000000000000000000" pitchFamily="2" charset="-78"/>
                <a:cs typeface="Aldhabi" panose="01000000000000000000" pitchFamily="2" charset="-78"/>
              </a:rPr>
              <a:t>algorithms</a:t>
            </a:r>
            <a:endParaRPr lang="es-CL" sz="24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AFD09E09-7632-4E73-B5AF-1D3F42556CFC}"/>
              </a:ext>
            </a:extLst>
          </p:cNvPr>
          <p:cNvSpPr txBox="1"/>
          <p:nvPr/>
        </p:nvSpPr>
        <p:spPr>
          <a:xfrm>
            <a:off x="8523704" y="4904869"/>
            <a:ext cx="1742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(Python, </a:t>
            </a:r>
            <a:r>
              <a:rPr lang="es-CL" sz="2800" dirty="0" err="1">
                <a:latin typeface="Aldhabi" panose="01000000000000000000" pitchFamily="2" charset="-78"/>
                <a:cs typeface="Aldhabi" panose="01000000000000000000" pitchFamily="2" charset="-78"/>
              </a:rPr>
              <a:t>NVivo</a:t>
            </a:r>
            <a:r>
              <a:rPr lang="es-CL" sz="2800" dirty="0">
                <a:latin typeface="Aldhabi" panose="01000000000000000000" pitchFamily="2" charset="-78"/>
                <a:cs typeface="Aldhabi" panose="01000000000000000000" pitchFamily="2" charset="-7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4622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112</Words>
  <Application>Microsoft Office PowerPoint</Application>
  <PresentationFormat>Panorámica</PresentationFormat>
  <Paragraphs>37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Aldhabi</vt:lpstr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Fabián Riquelme Csori</dc:creator>
  <cp:lastModifiedBy>Fabián Riquelme Csori</cp:lastModifiedBy>
  <cp:revision>9</cp:revision>
  <dcterms:created xsi:type="dcterms:W3CDTF">2021-03-26T16:30:56Z</dcterms:created>
  <dcterms:modified xsi:type="dcterms:W3CDTF">2021-03-26T18:50:58Z</dcterms:modified>
</cp:coreProperties>
</file>